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EO FORUM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>
                <a:solidFill>
                  <a:srgbClr val="1A1A1A"/>
                </a:solidFill>
                <a:latin typeface="Helvetica Neue"/>
              </a:rPr>
              <a:t>5 best.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 b="1">
                <a:solidFill>
                  <a:srgbClr val="C83E3E"/>
                </a:solidFill>
                <a:latin typeface="Helvetica Neue"/>
              </a:rPr>
              <a:t>5 worst.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Helvetica Neue"/>
              </a:rPr>
              <a:t>Decisions I made running my companies.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5852160"/>
            <a:ext cx="182880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>
                <a:solidFill>
                  <a:srgbClr val="C83E3E"/>
                </a:solidFill>
                <a:latin typeface="Helvetica Neue"/>
              </a:rPr>
              <a:t>The worst.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5212080"/>
            <a:ext cx="1828800" cy="0"/>
          </a:xfrm>
          <a:prstGeom prst="line">
            <a:avLst/>
          </a:prstGeom>
          <a:ln w="2540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3E3E"/>
                </a:solidFill>
                <a:latin typeface="Helvetica Neue"/>
              </a:rPr>
              <a:t>WORST   1 /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Too socialist with rewards.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Someone was performing 3x better than the rest.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I gave him a small raise — like everyone else.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He left.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C83E3E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3E3E"/>
                </a:solidFill>
                <a:latin typeface="Helvetica Neue"/>
              </a:rPr>
              <a:t>WORST   2 /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Letting the momentum run 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Things going well → I assumed forever, or about to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So I diversified instead of doubling 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Got blindsided. Up and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C83E3E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3E3E"/>
                </a:solidFill>
                <a:latin typeface="Helvetica Neue"/>
              </a:rPr>
              <a:t>WORST   3 / 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C8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Too slow to fire.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Couldn't find a reason that felt "legitimate"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Couldn't say: this isn't the company I want to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Kept the wrong people too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C83E3E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>
                <a:solidFill>
                  <a:srgbClr val="2E7D32"/>
                </a:solidFill>
                <a:latin typeface="Helvetica Neue"/>
              </a:rPr>
              <a:t>The best.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5212080"/>
            <a:ext cx="182880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Helvetica Neue"/>
              </a:rPr>
              <a:t>BEST   1 /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Reward fast. No hesitation.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Someone shows up at another level → double the salary this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Don't wait. Don't "a bit more than the others."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Same logic when someone is underperforming.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2E7D32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Helvetica Neue"/>
              </a:rPr>
              <a:t>BEST   2 / 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Helvetica Neue"/>
              </a:rPr>
              <a:t>A naive, simple partnership.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"I do what I like. You do the rest."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Broke every rule people tell you about partnerships.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Helvetica Neue"/>
              </a:rPr>
              <a:t>Goodwill on both sides. Still working.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59436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600" b="1">
                <a:solidFill>
                  <a:srgbClr val="2E7D32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ONE PATTERN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Helvetica Neue"/>
              </a:rPr>
              <a:t>Best and worst mirror each 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3E3E"/>
                </a:solidFill>
                <a:latin typeface="Helvetica Neue"/>
              </a:rPr>
              <a:t>WORST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Helvetica Neue"/>
              </a:rPr>
              <a:t>Too cautious with raises. Treat everyone the same. Lose the best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Helvetica Neue"/>
              </a:rPr>
              <a:t>BEST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7490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Helvetica Neue"/>
              </a:rPr>
              <a:t>See exceptional? Double the salary this week. No hesitation. Same on the way down.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6B6B6B"/>
                </a:solidFill>
                <a:latin typeface="Helvetica Neue"/>
              </a:rPr>
              <a:t>Move fast on people. Both directions.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Helvetica Neue"/>
              </a:rPr>
              <a:t>TAKEAWAY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051560"/>
            <a:ext cx="1097280" cy="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1A1A1A"/>
                </a:solidFill>
                <a:latin typeface="Helvetica Neue"/>
              </a:rPr>
              <a:t>Trust your 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2E7D32"/>
                </a:solidFill>
                <a:latin typeface="Helvetica Neue"/>
              </a:rPr>
              <a:t>Act on it fast.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6B6B6B"/>
                </a:solidFill>
                <a:latin typeface="Helvetica Neue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